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20a3473f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20a3473f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20a3473f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20a3473f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30825" y="191575"/>
            <a:ext cx="6165000" cy="103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880">
                <a:solidFill>
                  <a:srgbClr val="3C78D8"/>
                </a:solidFill>
              </a:rPr>
              <a:t>Fracture Risk in Missouri</a:t>
            </a:r>
            <a:endParaRPr sz="3880">
              <a:solidFill>
                <a:srgbClr val="3C78D8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704400" y="1229875"/>
            <a:ext cx="27840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880">
                <a:solidFill>
                  <a:srgbClr val="1155CC"/>
                </a:solidFill>
              </a:rPr>
              <a:t>Ana Bjelica | 2026</a:t>
            </a:r>
            <a:endParaRPr sz="880">
              <a:solidFill>
                <a:srgbClr val="1155CC"/>
              </a:solidFill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1222250" y="1833275"/>
            <a:ext cx="6879000" cy="2756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63176"/>
              <a:buNone/>
            </a:pPr>
            <a:r>
              <a:rPr b="1" lang="en" sz="1480">
                <a:solidFill>
                  <a:srgbClr val="A4C2F4"/>
                </a:solidFill>
              </a:rPr>
              <a:t>Abstract</a:t>
            </a:r>
            <a:endParaRPr b="1" sz="1480">
              <a:solidFill>
                <a:srgbClr val="A4C2F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91667"/>
              <a:buNone/>
            </a:pPr>
            <a:r>
              <a:rPr lang="en" sz="1200">
                <a:solidFill>
                  <a:schemeClr val="dk1"/>
                </a:solidFill>
              </a:rPr>
              <a:t>Fracture risk due to low bone density affects over 40 million Americans, with about 50% of women and 20% of men experiencing an osteoporosis-related fracture in their lifetime. Risk is higher in populations with older age, lower income, lower educational levels, and limited healthcare access.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91667"/>
              <a:buNone/>
            </a:pPr>
            <a:r>
              <a:rPr lang="en" sz="1200">
                <a:solidFill>
                  <a:schemeClr val="dk1"/>
                </a:solidFill>
              </a:rPr>
              <a:t>This project uses Missouri county-level data to examine how biological, socioeconomic, and healthcare access factors contribute to fracture risk. Twelve variables were grouped into three domains, standardized using z-score normalization, and aggregated to create a composite relative risk score (termed “Unmet Risk Index”, or URI). Finally, the counties were clustered into three groups based on risk levels.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91667"/>
              <a:buNone/>
            </a:pPr>
            <a:r>
              <a:rPr lang="en" sz="1200">
                <a:solidFill>
                  <a:schemeClr val="dk1"/>
                </a:solidFill>
              </a:rPr>
              <a:t>The goal of this project is to bring awareness to fracture risk and the need for earlier identification of at-risk populations, as well as to encourage understanding of geographical public health disparities.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91667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77917"/>
              <a:buNone/>
            </a:pPr>
            <a:r>
              <a:t/>
            </a:r>
            <a:endParaRPr sz="1200">
              <a:solidFill>
                <a:srgbClr val="A4C2F4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800" y="650888"/>
            <a:ext cx="4679800" cy="3841724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5480100" y="1940700"/>
            <a:ext cx="25896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Figure 1 | </a:t>
            </a:r>
            <a:r>
              <a:rPr lang="en">
                <a:solidFill>
                  <a:schemeClr val="dk2"/>
                </a:solidFill>
              </a:rPr>
              <a:t>Top 10 counties in Missouri with the greatest unmet fracture risk, based on URI (Unmet Fracture Risk) scoring. </a:t>
            </a:r>
            <a:endParaRPr sz="2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 b="1820" l="-1360" r="1360" t="-1820"/>
          <a:stretch/>
        </p:blipFill>
        <p:spPr>
          <a:xfrm>
            <a:off x="331540" y="261775"/>
            <a:ext cx="5305324" cy="4619949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/>
        </p:nvSpPr>
        <p:spPr>
          <a:xfrm>
            <a:off x="5636875" y="2171000"/>
            <a:ext cx="2643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Figure 2 | </a:t>
            </a:r>
            <a:r>
              <a:rPr lang="en">
                <a:solidFill>
                  <a:schemeClr val="dk2"/>
                </a:solidFill>
              </a:rPr>
              <a:t>Darker colors indicate highers URI scores. Areas with higher fracture risk appear to be west-central and south-central Missouri. </a:t>
            </a:r>
            <a:endParaRPr sz="2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